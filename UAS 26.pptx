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grandir Wide Ultra-Bold" panose="020B0604020202020204" charset="0"/>
      <p:regular r:id="rId10"/>
    </p:embeddedFont>
    <p:embeddedFont>
      <p:font typeface="Kanit" panose="020B0604020202020204" charset="-34"/>
      <p:regular r:id="rId11"/>
    </p:embeddedFont>
    <p:embeddedFont>
      <p:font typeface="Kanit Medium" panose="020B0604020202020204" charset="-34"/>
      <p:regular r:id="rId12"/>
    </p:embeddedFont>
    <p:embeddedFont>
      <p:font typeface="Kanit Semi-Bold" panose="020B0604020202020204" charset="-34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879798"/>
            <a:ext cx="18288000" cy="12197953"/>
          </a:xfrm>
          <a:custGeom>
            <a:avLst/>
            <a:gdLst/>
            <a:ahLst/>
            <a:cxnLst/>
            <a:rect l="l" t="t" r="r" b="b"/>
            <a:pathLst>
              <a:path w="18288000" h="12197953">
                <a:moveTo>
                  <a:pt x="0" y="0"/>
                </a:moveTo>
                <a:lnTo>
                  <a:pt x="18288000" y="0"/>
                </a:lnTo>
                <a:lnTo>
                  <a:pt x="18288000" y="12197953"/>
                </a:lnTo>
                <a:lnTo>
                  <a:pt x="0" y="12197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7528987" y="-586313"/>
            <a:ext cx="3230026" cy="3230026"/>
          </a:xfrm>
          <a:custGeom>
            <a:avLst/>
            <a:gdLst/>
            <a:ahLst/>
            <a:cxnLst/>
            <a:rect l="l" t="t" r="r" b="b"/>
            <a:pathLst>
              <a:path w="3230026" h="3230026">
                <a:moveTo>
                  <a:pt x="0" y="0"/>
                </a:moveTo>
                <a:lnTo>
                  <a:pt x="3230026" y="0"/>
                </a:lnTo>
                <a:lnTo>
                  <a:pt x="3230026" y="3230026"/>
                </a:lnTo>
                <a:lnTo>
                  <a:pt x="0" y="3230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66852" y="7864091"/>
            <a:ext cx="2129288" cy="2129288"/>
          </a:xfrm>
          <a:custGeom>
            <a:avLst/>
            <a:gdLst/>
            <a:ahLst/>
            <a:cxnLst/>
            <a:rect l="l" t="t" r="r" b="b"/>
            <a:pathLst>
              <a:path w="2129288" h="2129288">
                <a:moveTo>
                  <a:pt x="0" y="0"/>
                </a:moveTo>
                <a:lnTo>
                  <a:pt x="2129288" y="0"/>
                </a:lnTo>
                <a:lnTo>
                  <a:pt x="2129288" y="2129288"/>
                </a:lnTo>
                <a:lnTo>
                  <a:pt x="0" y="2129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-1021926" y="7118027"/>
            <a:ext cx="8776252" cy="4280546"/>
          </a:xfrm>
          <a:custGeom>
            <a:avLst/>
            <a:gdLst/>
            <a:ahLst/>
            <a:cxnLst/>
            <a:rect l="l" t="t" r="r" b="b"/>
            <a:pathLst>
              <a:path w="8776252" h="4280546">
                <a:moveTo>
                  <a:pt x="0" y="0"/>
                </a:moveTo>
                <a:lnTo>
                  <a:pt x="8776252" y="0"/>
                </a:lnTo>
                <a:lnTo>
                  <a:pt x="8776252" y="4280546"/>
                </a:lnTo>
                <a:lnTo>
                  <a:pt x="0" y="428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4392563"/>
            <a:ext cx="25403517" cy="262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38"/>
              </a:lnSpc>
            </a:pPr>
            <a:r>
              <a:rPr lang="en-US" sz="24637" b="1">
                <a:solidFill>
                  <a:srgbClr val="FFFFFF"/>
                </a:solidFill>
                <a:latin typeface="Kanit Semi-Bold"/>
                <a:ea typeface="Kanit Semi-Bold"/>
                <a:cs typeface="Kanit Semi-Bold"/>
                <a:sym typeface="Kanit Semi-Bold"/>
              </a:rPr>
              <a:t>UAS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079922"/>
            <a:ext cx="6725626" cy="2139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38"/>
              </a:lnSpc>
            </a:pPr>
            <a:r>
              <a:rPr lang="en-US" sz="12527" b="1">
                <a:solidFill>
                  <a:srgbClr val="FFFFFF"/>
                </a:solidFill>
                <a:latin typeface="Kanit Medium"/>
                <a:ea typeface="Kanit Medium"/>
                <a:cs typeface="Kanit Medium"/>
                <a:sym typeface="Kanit Medium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78767" y="5143500"/>
            <a:ext cx="3086100" cy="2036826"/>
            <a:chOff x="0" y="0"/>
            <a:chExt cx="63500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6147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02767" y="1015222"/>
            <a:ext cx="7882467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Il team UAS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600950" y="5068062"/>
            <a:ext cx="3086100" cy="2036826"/>
            <a:chOff x="0" y="0"/>
            <a:chExt cx="635000" cy="419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6147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44300" y="5068062"/>
            <a:ext cx="3086100" cy="2036826"/>
            <a:chOff x="0" y="0"/>
            <a:chExt cx="635000" cy="419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6147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5221818" y="3472102"/>
            <a:ext cx="3922182" cy="167139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3" name="AutoShape 13"/>
          <p:cNvSpPr/>
          <p:nvPr/>
        </p:nvSpPr>
        <p:spPr>
          <a:xfrm>
            <a:off x="9144000" y="2373963"/>
            <a:ext cx="0" cy="269409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" name="AutoShape 14"/>
          <p:cNvSpPr/>
          <p:nvPr/>
        </p:nvSpPr>
        <p:spPr>
          <a:xfrm>
            <a:off x="9144000" y="3472102"/>
            <a:ext cx="3943350" cy="159596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Box 15"/>
          <p:cNvSpPr txBox="1"/>
          <p:nvPr/>
        </p:nvSpPr>
        <p:spPr>
          <a:xfrm>
            <a:off x="3798054" y="5876163"/>
            <a:ext cx="284752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Aerodinamica</a:t>
            </a:r>
            <a:endParaRPr lang="en-US" sz="3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307342" y="5609463"/>
            <a:ext cx="36733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Strutture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&amp; Meccanica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11368" y="5812155"/>
            <a:ext cx="174773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Avionica</a:t>
            </a:r>
            <a:endParaRPr lang="en-US" sz="3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48012"/>
            <a:ext cx="11973206" cy="7136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521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Limiti Strutturali ed Economici: Peso massimo al decollo (MTOM) di 10 kg.</a:t>
            </a:r>
          </a:p>
          <a:p>
            <a:pPr marL="755651" lvl="1" indent="-377825" algn="l">
              <a:lnSpc>
                <a:spcPts val="521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Performance e Autonomia: 15 minuti di volo garantendo il 20% di batteria residua.</a:t>
            </a:r>
          </a:p>
          <a:p>
            <a:pPr marL="755651" lvl="1" indent="-377825" algn="l">
              <a:lnSpc>
                <a:spcPts val="521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Obiettivo Missione Agricola: Rilascio acqua sotto i 20 ft AGL , erogazione continua per 75 m.</a:t>
            </a:r>
          </a:p>
          <a:p>
            <a:pPr marL="755651" lvl="1" indent="-377825" algn="l">
              <a:lnSpc>
                <a:spcPts val="521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Limiti Operativi e Meteo: Decollo e atterraggio autonomi in un'area di 20x20 m.</a:t>
            </a:r>
          </a:p>
          <a:p>
            <a:pPr marL="755651" lvl="1" indent="-377825" algn="l">
              <a:lnSpc>
                <a:spcPts val="521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Logistica e Rapidità: assemblaggio senza attrezzi in meno di 8 minuti.</a:t>
            </a:r>
          </a:p>
          <a:p>
            <a:pPr algn="l">
              <a:lnSpc>
                <a:spcPts val="4200"/>
              </a:lnSpc>
            </a:pPr>
            <a:endParaRPr lang="en-US" sz="3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378206" y="2420183"/>
            <a:ext cx="4523211" cy="2723317"/>
          </a:xfrm>
          <a:custGeom>
            <a:avLst/>
            <a:gdLst/>
            <a:ahLst/>
            <a:cxnLst/>
            <a:rect l="l" t="t" r="r" b="b"/>
            <a:pathLst>
              <a:path w="4523211" h="2723317">
                <a:moveTo>
                  <a:pt x="0" y="0"/>
                </a:moveTo>
                <a:lnTo>
                  <a:pt x="4523211" y="0"/>
                </a:lnTo>
                <a:lnTo>
                  <a:pt x="4523211" y="2723317"/>
                </a:lnTo>
                <a:lnTo>
                  <a:pt x="0" y="272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485900" y="902541"/>
            <a:ext cx="15316200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UAS Challenge 2026: Vincoli e </a:t>
            </a:r>
            <a:r>
              <a:rPr lang="en-US" sz="4500" b="1" dirty="0" err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Prestazioni</a:t>
            </a:r>
            <a:endParaRPr lang="en-US" sz="4500" b="1" dirty="0">
              <a:solidFill>
                <a:srgbClr val="FFFFFF"/>
              </a:solidFill>
              <a:latin typeface="Agrandir Wide Ultra-Bold"/>
              <a:ea typeface="Agrandir Wide Ultra-Bold"/>
              <a:cs typeface="Agrandir Wide Ultra-Bold"/>
              <a:sym typeface="Agrandir Wide Ultra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4057" y="1582332"/>
            <a:ext cx="7606599" cy="4236265"/>
          </a:xfrm>
          <a:custGeom>
            <a:avLst/>
            <a:gdLst/>
            <a:ahLst/>
            <a:cxnLst/>
            <a:rect l="l" t="t" r="r" b="b"/>
            <a:pathLst>
              <a:path w="7606599" h="4236265">
                <a:moveTo>
                  <a:pt x="0" y="0"/>
                </a:moveTo>
                <a:lnTo>
                  <a:pt x="7606599" y="0"/>
                </a:lnTo>
                <a:lnTo>
                  <a:pt x="7606599" y="4236265"/>
                </a:lnTo>
                <a:lnTo>
                  <a:pt x="0" y="4236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314057" y="5566626"/>
            <a:ext cx="8391776" cy="4720374"/>
          </a:xfrm>
          <a:custGeom>
            <a:avLst/>
            <a:gdLst/>
            <a:ahLst/>
            <a:cxnLst/>
            <a:rect l="l" t="t" r="r" b="b"/>
            <a:pathLst>
              <a:path w="8391776" h="4720374">
                <a:moveTo>
                  <a:pt x="0" y="0"/>
                </a:moveTo>
                <a:lnTo>
                  <a:pt x="8391776" y="0"/>
                </a:lnTo>
                <a:lnTo>
                  <a:pt x="8391776" y="4720374"/>
                </a:lnTo>
                <a:lnTo>
                  <a:pt x="0" y="4720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3007191" y="352425"/>
            <a:ext cx="12273618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1">
                <a:solidFill>
                  <a:srgbClr val="000000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Modello UAS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50960" y="3125630"/>
            <a:ext cx="933704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Caratteristiche di rilievo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Elevata efficienza aerodinamica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Pesi contenuti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Materiali compositi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Affidabilità 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LIDAR per avvicinamento di precisione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Velocità di crociera: 13 m/s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47727" y="1028700"/>
            <a:ext cx="12992546" cy="7445538"/>
          </a:xfrm>
          <a:custGeom>
            <a:avLst/>
            <a:gdLst/>
            <a:ahLst/>
            <a:cxnLst/>
            <a:rect l="l" t="t" r="r" b="b"/>
            <a:pathLst>
              <a:path w="12992546" h="7445538">
                <a:moveTo>
                  <a:pt x="0" y="0"/>
                </a:moveTo>
                <a:lnTo>
                  <a:pt x="12992546" y="0"/>
                </a:lnTo>
                <a:lnTo>
                  <a:pt x="12992546" y="7445538"/>
                </a:lnTo>
                <a:lnTo>
                  <a:pt x="0" y="744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99087" y="2714146"/>
            <a:ext cx="6924201" cy="5158606"/>
          </a:xfrm>
          <a:custGeom>
            <a:avLst/>
            <a:gdLst/>
            <a:ahLst/>
            <a:cxnLst/>
            <a:rect l="l" t="t" r="r" b="b"/>
            <a:pathLst>
              <a:path w="6924201" h="5158606">
                <a:moveTo>
                  <a:pt x="0" y="0"/>
                </a:moveTo>
                <a:lnTo>
                  <a:pt x="6924201" y="0"/>
                </a:lnTo>
                <a:lnTo>
                  <a:pt x="6924201" y="5158606"/>
                </a:lnTo>
                <a:lnTo>
                  <a:pt x="0" y="5158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354987" y="1252251"/>
            <a:ext cx="15904313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000000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Serbatoio e sistema di rilascio dell’acqua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3950" y="5073102"/>
            <a:ext cx="17164050" cy="253591"/>
            <a:chOff x="0" y="0"/>
            <a:chExt cx="22885400" cy="338121"/>
          </a:xfrm>
        </p:grpSpPr>
        <p:sp>
          <p:nvSpPr>
            <p:cNvPr id="3" name="AutoShape 3"/>
            <p:cNvSpPr/>
            <p:nvPr/>
          </p:nvSpPr>
          <p:spPr>
            <a:xfrm>
              <a:off x="169060" y="169060"/>
              <a:ext cx="22716340" cy="0"/>
            </a:xfrm>
            <a:prstGeom prst="line">
              <a:avLst/>
            </a:prstGeom>
            <a:ln w="25400" cap="rnd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grpSp>
          <p:nvGrpSpPr>
            <p:cNvPr id="4" name="Group 4"/>
            <p:cNvGrpSpPr/>
            <p:nvPr/>
          </p:nvGrpSpPr>
          <p:grpSpPr>
            <a:xfrm rot="5423755">
              <a:off x="1156" y="1156"/>
              <a:ext cx="335808" cy="335808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5423755">
              <a:off x="4278354" y="1156"/>
              <a:ext cx="335808" cy="335808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5423755">
              <a:off x="13524447" y="1156"/>
              <a:ext cx="335808" cy="335808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5423755">
              <a:off x="18108745" y="1156"/>
              <a:ext cx="335808" cy="335808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5423755">
              <a:off x="8927951" y="1156"/>
              <a:ext cx="335808" cy="335808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it-IT"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1555655" y="4412885"/>
            <a:ext cx="6732345" cy="1199084"/>
            <a:chOff x="0" y="0"/>
            <a:chExt cx="1773128" cy="315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73128" cy="315808"/>
            </a:xfrm>
            <a:custGeom>
              <a:avLst/>
              <a:gdLst/>
              <a:ahLst/>
              <a:cxnLst/>
              <a:rect l="l" t="t" r="r" b="b"/>
              <a:pathLst>
                <a:path w="1773128" h="315808">
                  <a:moveTo>
                    <a:pt x="0" y="0"/>
                  </a:moveTo>
                  <a:lnTo>
                    <a:pt x="1773128" y="0"/>
                  </a:lnTo>
                  <a:lnTo>
                    <a:pt x="1773128" y="315808"/>
                  </a:lnTo>
                  <a:lnTo>
                    <a:pt x="0" y="315808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73128" cy="353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31848" y="5906966"/>
            <a:ext cx="3076470" cy="155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Fase di costruzione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04/26 - 05/26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3950" y="5906966"/>
            <a:ext cx="2599931" cy="155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Fase di progetto completata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19046" y="5906966"/>
            <a:ext cx="2931467" cy="155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Fase di testing 05/26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88054" y="5906966"/>
            <a:ext cx="3058998" cy="155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Competizione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29/06/26 - 02/07/26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2812685"/>
            <a:ext cx="11515725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80"/>
              </a:lnSpc>
              <a:spcBef>
                <a:spcPct val="0"/>
              </a:spcBef>
            </a:pPr>
            <a:r>
              <a:rPr lang="en-US" sz="6400" b="1">
                <a:solidFill>
                  <a:srgbClr val="FFFFFF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16924" y="4186931"/>
            <a:ext cx="5732247" cy="1913138"/>
          </a:xfrm>
          <a:custGeom>
            <a:avLst/>
            <a:gdLst/>
            <a:ahLst/>
            <a:cxnLst/>
            <a:rect l="l" t="t" r="r" b="b"/>
            <a:pathLst>
              <a:path w="5732247" h="1913138">
                <a:moveTo>
                  <a:pt x="0" y="0"/>
                </a:moveTo>
                <a:lnTo>
                  <a:pt x="5732247" y="0"/>
                </a:lnTo>
                <a:lnTo>
                  <a:pt x="5732247" y="1913138"/>
                </a:lnTo>
                <a:lnTo>
                  <a:pt x="0" y="1913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171521" y="4530442"/>
            <a:ext cx="6583168" cy="1226115"/>
          </a:xfrm>
          <a:custGeom>
            <a:avLst/>
            <a:gdLst/>
            <a:ahLst/>
            <a:cxnLst/>
            <a:rect l="l" t="t" r="r" b="b"/>
            <a:pathLst>
              <a:path w="6583168" h="1226115">
                <a:moveTo>
                  <a:pt x="0" y="0"/>
                </a:moveTo>
                <a:lnTo>
                  <a:pt x="6583168" y="0"/>
                </a:lnTo>
                <a:lnTo>
                  <a:pt x="6583168" y="1226116"/>
                </a:lnTo>
                <a:lnTo>
                  <a:pt x="0" y="1226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7754620" y="499745"/>
            <a:ext cx="2778760" cy="96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dirty="0">
                <a:solidFill>
                  <a:srgbClr val="FFFFFF"/>
                </a:solidFill>
                <a:latin typeface="Kanit Semi-Bold"/>
                <a:ea typeface="Kanit Semi-Bold"/>
                <a:cs typeface="Kanit Semi-Bold"/>
                <a:sym typeface="Kanit Semi-Bold"/>
              </a:rPr>
              <a:t>Partner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1342" y="8644890"/>
            <a:ext cx="7893658" cy="613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E chi ci </a:t>
            </a:r>
            <a:r>
              <a:rPr lang="en-US" sz="3600" dirty="0" err="1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supporterà</a:t>
            </a:r>
            <a:r>
              <a:rPr lang="en-US" sz="3600" dirty="0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 in </a:t>
            </a:r>
            <a:r>
              <a:rPr lang="en-US" sz="3600" dirty="0" err="1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questo</a:t>
            </a:r>
            <a:r>
              <a:rPr lang="en-US" sz="3600" dirty="0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Kanit"/>
                <a:ea typeface="Kanit"/>
                <a:cs typeface="Kanit"/>
                <a:sym typeface="Kanit"/>
              </a:rPr>
              <a:t>viaggio</a:t>
            </a:r>
            <a:endParaRPr lang="en-US" sz="3600" dirty="0">
              <a:solidFill>
                <a:srgbClr val="FFFFFF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</Words>
  <Application>Microsoft Office PowerPoint</Application>
  <PresentationFormat>Personalizzato</PresentationFormat>
  <Paragraphs>30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7" baseType="lpstr">
      <vt:lpstr>Agrandir Wide Ultra-Bold</vt:lpstr>
      <vt:lpstr>Open Sans</vt:lpstr>
      <vt:lpstr>Arial</vt:lpstr>
      <vt:lpstr>Kanit Medium</vt:lpstr>
      <vt:lpstr>Calibri</vt:lpstr>
      <vt:lpstr>Kanit</vt:lpstr>
      <vt:lpstr>Kanit Semi-Bold</vt:lpstr>
      <vt:lpstr>Open Sans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UAS 26</dc:title>
  <cp:lastModifiedBy>Manuel Nicolini</cp:lastModifiedBy>
  <cp:revision>2</cp:revision>
  <dcterms:created xsi:type="dcterms:W3CDTF">2006-08-16T00:00:00Z</dcterms:created>
  <dcterms:modified xsi:type="dcterms:W3CDTF">2026-04-03T15:05:26Z</dcterms:modified>
  <dc:identifier>DAHFyqRJtGg</dc:identifier>
</cp:coreProperties>
</file>